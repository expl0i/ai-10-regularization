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4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6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потеря на обучающей</c:v>
                </c:pt>
              </c:strCache>
            </c:strRef>
          </c:tx>
          <c:spPr>
            <a:solidFill>
              <a:srgbClr val="9AA0A8"/>
            </a:solidFill>
            <a:ln w="28575" cap="flat">
              <a:solidFill>
                <a:srgbClr val="9AA0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0A8"/>
              </a:solidFill>
              <a:ln w="9525" cap="flat">
                <a:solidFill>
                  <a:srgbClr val="9AA0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60</c:v>
                  </c:pt>
                </c:lvl>
              </c:multiLvlStrCache>
            </c:multiLvl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0.9049398303031921</c:v>
                </c:pt>
                <c:pt idx="1">
                  <c:v>0.667121946811676</c:v>
                </c:pt>
                <c:pt idx="2">
                  <c:v>0.5265200734138489</c:v>
                </c:pt>
                <c:pt idx="3">
                  <c:v>0.4894813299179077</c:v>
                </c:pt>
                <c:pt idx="4">
                  <c:v>0.4176589250564575</c:v>
                </c:pt>
                <c:pt idx="5">
                  <c:v>0.37174975872039795</c:v>
                </c:pt>
                <c:pt idx="6">
                  <c:v>0.2979635000228882</c:v>
                </c:pt>
                <c:pt idx="7">
                  <c:v>0.311863511800766</c:v>
                </c:pt>
                <c:pt idx="8">
                  <c:v>0.28718453645706177</c:v>
                </c:pt>
                <c:pt idx="9">
                  <c:v>0.21493415534496307</c:v>
                </c:pt>
                <c:pt idx="10">
                  <c:v>0.19855475425720215</c:v>
                </c:pt>
                <c:pt idx="11">
                  <c:v>0.18205444514751434</c:v>
                </c:pt>
                <c:pt idx="12">
                  <c:v>0.16419225931167603</c:v>
                </c:pt>
                <c:pt idx="13">
                  <c:v>0.1400073915719986</c:v>
                </c:pt>
                <c:pt idx="14">
                  <c:v>0.14542214572429657</c:v>
                </c:pt>
                <c:pt idx="15">
                  <c:v>0.16438458859920502</c:v>
                </c:pt>
                <c:pt idx="16">
                  <c:v>0.11417872458696365</c:v>
                </c:pt>
                <c:pt idx="17">
                  <c:v>0.10516760498285294</c:v>
                </c:pt>
                <c:pt idx="18">
                  <c:v>0.06667213141918182</c:v>
                </c:pt>
                <c:pt idx="19">
                  <c:v>0.06420391798019409</c:v>
                </c:pt>
                <c:pt idx="20">
                  <c:v>0.08217498660087585</c:v>
                </c:pt>
                <c:pt idx="21">
                  <c:v>0.05428672209382057</c:v>
                </c:pt>
                <c:pt idx="22">
                  <c:v>0.06182631850242615</c:v>
                </c:pt>
                <c:pt idx="23">
                  <c:v>0.07807943969964981</c:v>
                </c:pt>
                <c:pt idx="24">
                  <c:v>0.07249671965837479</c:v>
                </c:pt>
                <c:pt idx="25">
                  <c:v>0.05508662387728691</c:v>
                </c:pt>
                <c:pt idx="26">
                  <c:v>0.06406964361667633</c:v>
                </c:pt>
                <c:pt idx="27">
                  <c:v>0.0886288434267044</c:v>
                </c:pt>
                <c:pt idx="28">
                  <c:v>0.052462756633758545</c:v>
                </c:pt>
                <c:pt idx="29">
                  <c:v>0.030603809282183647</c:v>
                </c:pt>
                <c:pt idx="30">
                  <c:v>0.03919097036123276</c:v>
                </c:pt>
                <c:pt idx="31">
                  <c:v>0.022135242819786072</c:v>
                </c:pt>
                <c:pt idx="32">
                  <c:v>0.0317210927605629</c:v>
                </c:pt>
                <c:pt idx="33">
                  <c:v>0.12001591175794601</c:v>
                </c:pt>
                <c:pt idx="34">
                  <c:v>0.020020397379994392</c:v>
                </c:pt>
                <c:pt idx="35">
                  <c:v>0.06576628237962723</c:v>
                </c:pt>
                <c:pt idx="36">
                  <c:v>0.04346619173884392</c:v>
                </c:pt>
                <c:pt idx="37">
                  <c:v>0.11966519057750702</c:v>
                </c:pt>
                <c:pt idx="38">
                  <c:v>0.026269447058439255</c:v>
                </c:pt>
                <c:pt idx="39">
                  <c:v>0.049292031675577164</c:v>
                </c:pt>
                <c:pt idx="40">
                  <c:v>0.03991827368736267</c:v>
                </c:pt>
                <c:pt idx="41">
                  <c:v>0.08168605715036392</c:v>
                </c:pt>
                <c:pt idx="42">
                  <c:v>0.015836941078305244</c:v>
                </c:pt>
                <c:pt idx="43">
                  <c:v>0.009932897984981537</c:v>
                </c:pt>
                <c:pt idx="44">
                  <c:v>0.007208961062133312</c:v>
                </c:pt>
                <c:pt idx="45">
                  <c:v>0.007090352009981871</c:v>
                </c:pt>
                <c:pt idx="46">
                  <c:v>0.0059125362895429134</c:v>
                </c:pt>
                <c:pt idx="47">
                  <c:v>0.018427681177854538</c:v>
                </c:pt>
                <c:pt idx="48">
                  <c:v>0.03934871777892113</c:v>
                </c:pt>
                <c:pt idx="49">
                  <c:v>0.03813541308045387</c:v>
                </c:pt>
                <c:pt idx="50">
                  <c:v>0.09937267005443573</c:v>
                </c:pt>
                <c:pt idx="51">
                  <c:v>0.07672044634819031</c:v>
                </c:pt>
                <c:pt idx="52">
                  <c:v>0.060984306037425995</c:v>
                </c:pt>
                <c:pt idx="53">
                  <c:v>0.05110533908009529</c:v>
                </c:pt>
                <c:pt idx="54">
                  <c:v>0.06014827638864517</c:v>
                </c:pt>
                <c:pt idx="55">
                  <c:v>0.05477457866072655</c:v>
                </c:pt>
                <c:pt idx="56">
                  <c:v>0.032436683773994446</c:v>
                </c:pt>
                <c:pt idx="57">
                  <c:v>0.011392990127205849</c:v>
                </c:pt>
                <c:pt idx="58">
                  <c:v>0.024279577657580376</c:v>
                </c:pt>
                <c:pt idx="59">
                  <c:v>0.007947804406285286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потеря на валидационной</c:v>
                </c:pt>
              </c:strCache>
            </c:strRef>
          </c:tx>
          <c:spPr>
            <a:solidFill>
              <a:srgbClr val="4C9BFF"/>
            </a:solidFill>
            <a:ln w="28575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Sheet1!$A$2:$A$61</c:f>
              <c:multiLvlStrCache>
                <c:ptCount val="6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>50</c:v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>60</c:v>
                  </c:pt>
                </c:lvl>
              </c:multiLvlStrCache>
            </c:multiLvl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0.9271790981292725</c:v>
                </c:pt>
                <c:pt idx="1">
                  <c:v>0.731539785861969</c:v>
                </c:pt>
                <c:pt idx="2">
                  <c:v>0.6624894738197327</c:v>
                </c:pt>
                <c:pt idx="3">
                  <c:v>0.6454876661300659</c:v>
                </c:pt>
                <c:pt idx="4">
                  <c:v>0.6180124282836914</c:v>
                </c:pt>
                <c:pt idx="5">
                  <c:v>0.6138978004455566</c:v>
                </c:pt>
                <c:pt idx="6">
                  <c:v>0.571150541305542</c:v>
                </c:pt>
                <c:pt idx="7">
                  <c:v>0.6513255834579468</c:v>
                </c:pt>
                <c:pt idx="8">
                  <c:v>0.6400629878044128</c:v>
                </c:pt>
                <c:pt idx="9">
                  <c:v>0.5750216841697693</c:v>
                </c:pt>
                <c:pt idx="10">
                  <c:v>0.6029325723648071</c:v>
                </c:pt>
                <c:pt idx="11">
                  <c:v>0.6322225332260132</c:v>
                </c:pt>
                <c:pt idx="12">
                  <c:v>0.6038010716438293</c:v>
                </c:pt>
                <c:pt idx="13">
                  <c:v>0.6354687213897705</c:v>
                </c:pt>
                <c:pt idx="14">
                  <c:v>0.6699371337890625</c:v>
                </c:pt>
                <c:pt idx="15">
                  <c:v>0.7415933609008789</c:v>
                </c:pt>
                <c:pt idx="16">
                  <c:v>0.6231185793876648</c:v>
                </c:pt>
                <c:pt idx="17">
                  <c:v>0.6638405919075012</c:v>
                </c:pt>
                <c:pt idx="18">
                  <c:v>0.6808351278305054</c:v>
                </c:pt>
                <c:pt idx="19">
                  <c:v>0.7076330780982971</c:v>
                </c:pt>
                <c:pt idx="20">
                  <c:v>0.7305949926376343</c:v>
                </c:pt>
                <c:pt idx="21">
                  <c:v>0.7180097699165344</c:v>
                </c:pt>
                <c:pt idx="22">
                  <c:v>0.7639416456222534</c:v>
                </c:pt>
                <c:pt idx="23">
                  <c:v>0.816158652305603</c:v>
                </c:pt>
                <c:pt idx="24">
                  <c:v>0.8279183506965637</c:v>
                </c:pt>
                <c:pt idx="25">
                  <c:v>0.7669771909713745</c:v>
                </c:pt>
                <c:pt idx="26">
                  <c:v>0.8294006586074829</c:v>
                </c:pt>
                <c:pt idx="27">
                  <c:v>0.8585262298583984</c:v>
                </c:pt>
                <c:pt idx="28">
                  <c:v>0.789530873298645</c:v>
                </c:pt>
                <c:pt idx="29">
                  <c:v>0.8141916394233704</c:v>
                </c:pt>
                <c:pt idx="30">
                  <c:v>0.8719549775123596</c:v>
                </c:pt>
                <c:pt idx="31">
                  <c:v>0.8462232947349548</c:v>
                </c:pt>
                <c:pt idx="32">
                  <c:v>0.9327600598335266</c:v>
                </c:pt>
                <c:pt idx="33">
                  <c:v>0.9927963614463806</c:v>
                </c:pt>
                <c:pt idx="34">
                  <c:v>0.8280729651451111</c:v>
                </c:pt>
                <c:pt idx="35">
                  <c:v>0.9404173493385315</c:v>
                </c:pt>
                <c:pt idx="36">
                  <c:v>0.9079323410987854</c:v>
                </c:pt>
                <c:pt idx="37">
                  <c:v>0.9537675976753235</c:v>
                </c:pt>
                <c:pt idx="38">
                  <c:v>0.8581278324127197</c:v>
                </c:pt>
                <c:pt idx="39">
                  <c:v>1.07236647605896</c:v>
                </c:pt>
                <c:pt idx="40">
                  <c:v>1.0368908643722534</c:v>
                </c:pt>
                <c:pt idx="41">
                  <c:v>1.026613473892212</c:v>
                </c:pt>
                <c:pt idx="42">
                  <c:v>0.9245229959487915</c:v>
                </c:pt>
                <c:pt idx="43">
                  <c:v>0.9325394630432129</c:v>
                </c:pt>
                <c:pt idx="44">
                  <c:v>0.9448637366294861</c:v>
                </c:pt>
                <c:pt idx="45">
                  <c:v>0.9707673788070679</c:v>
                </c:pt>
                <c:pt idx="46">
                  <c:v>1.0041613578796387</c:v>
                </c:pt>
                <c:pt idx="47">
                  <c:v>1.063815712928772</c:v>
                </c:pt>
                <c:pt idx="48">
                  <c:v>1.1390626430511475</c:v>
                </c:pt>
                <c:pt idx="49">
                  <c:v>1.1475564241409302</c:v>
                </c:pt>
                <c:pt idx="50">
                  <c:v>1.1877522468566895</c:v>
                </c:pt>
                <c:pt idx="51">
                  <c:v>1.0264071226119995</c:v>
                </c:pt>
                <c:pt idx="52">
                  <c:v>0.9656364321708679</c:v>
                </c:pt>
                <c:pt idx="53">
                  <c:v>1.0955677032470703</c:v>
                </c:pt>
                <c:pt idx="54">
                  <c:v>1.0705525875091553</c:v>
                </c:pt>
                <c:pt idx="55">
                  <c:v>1.1174527406692505</c:v>
                </c:pt>
                <c:pt idx="56">
                  <c:v>0.9916619658470154</c:v>
                </c:pt>
                <c:pt idx="57">
                  <c:v>0.9715725779533386</c:v>
                </c:pt>
                <c:pt idx="58">
                  <c:v>0.9887245893478394</c:v>
                </c:pt>
                <c:pt idx="59">
                  <c:v>1.0115107297897339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эпоха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перекрестная энтропия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множитель</c:v>
                </c:pt>
              </c:strCache>
            </c:strRef>
          </c:tx>
          <c:spPr>
            <a:solidFill>
              <a:srgbClr val="0F1B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B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3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C9B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F2F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 = 10</c:v>
                  </c:pt>
                  <c:pt idx="1">
                    <c:v>h = 1</c:v>
                  </c:pt>
                  <c:pt idx="2">
                    <c:v>h = 0.1</c:v>
                  </c:pt>
                  <c:pt idx="3">
                    <c:v>h = 0.01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0.9900990099009901</c:v>
                </c:pt>
                <c:pt idx="1">
                  <c:v>0.9090909090909091</c:v>
                </c:pt>
                <c:pt idx="2">
                  <c:v>0.5</c:v>
                </c:pt>
                <c:pt idx="3">
                  <c:v>0.09090909090909091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крутизна направления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во сколько раз остается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 на валидации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 = 0</c:v>
                  </c:pt>
                  <c:pt idx="1">
                    <c:v>p = 0.2</c:v>
                  </c:pt>
                  <c:pt idx="2">
                    <c:v>p = 0.5</c:v>
                  </c:pt>
                  <c:pt idx="3">
                    <c:v>p = 0.7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0.7105</c:v>
                </c:pt>
                <c:pt idx="1">
                  <c:v>0.7245</c:v>
                </c:pt>
                <c:pt idx="2">
                  <c:v>0.7585</c:v>
                </c:pt>
                <c:pt idx="3">
                  <c:v>0.781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доля запомненных ошибок</c:v>
                </c:pt>
              </c:strCache>
            </c:strRef>
          </c:tx>
          <c:spPr>
            <a:solidFill>
              <a:srgbClr val="0F1B2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 = 0</c:v>
                  </c:pt>
                  <c:pt idx="1">
                    <c:v>p = 0.2</c:v>
                  </c:pt>
                  <c:pt idx="2">
                    <c:v>p = 0.5</c:v>
                  </c:pt>
                  <c:pt idx="3">
                    <c:v>p = 0.7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0.975</c:v>
                </c:pt>
                <c:pt idx="1">
                  <c:v>0.915</c:v>
                </c:pt>
                <c:pt idx="2">
                  <c:v>0.57</c:v>
                </c:pt>
                <c:pt idx="3">
                  <c:v>0.185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вероятность выключения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доля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обучающая</c:v>
                </c:pt>
              </c:strCache>
            </c:strRef>
          </c:tx>
          <c:spPr>
            <a:solidFill>
              <a:srgbClr val="9AA0A8"/>
            </a:solidFill>
            <a:ln w="28575" cap="flat">
              <a:solidFill>
                <a:srgbClr val="9AA0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0A8"/>
              </a:solidFill>
              <a:ln w="9525" cap="flat">
                <a:solidFill>
                  <a:srgbClr val="9AA0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1.540202260017395</c:v>
                </c:pt>
                <c:pt idx="1">
                  <c:v>1.3554866313934326</c:v>
                </c:pt>
                <c:pt idx="2">
                  <c:v>1.2498606443405151</c:v>
                </c:pt>
                <c:pt idx="3">
                  <c:v>1.2322179079055786</c:v>
                </c:pt>
                <c:pt idx="4">
                  <c:v>1.1200670003890991</c:v>
                </c:pt>
                <c:pt idx="5">
                  <c:v>1.0554900169372559</c:v>
                </c:pt>
                <c:pt idx="6">
                  <c:v>1.0096684694290161</c:v>
                </c:pt>
                <c:pt idx="7">
                  <c:v>0.9355883598327637</c:v>
                </c:pt>
                <c:pt idx="8">
                  <c:v>0.8594056367874146</c:v>
                </c:pt>
                <c:pt idx="9">
                  <c:v>0.8637818694114685</c:v>
                </c:pt>
                <c:pt idx="10">
                  <c:v>0.7792563438415527</c:v>
                </c:pt>
                <c:pt idx="11">
                  <c:v>0.767498791217804</c:v>
                </c:pt>
                <c:pt idx="12">
                  <c:v>0.6561407446861267</c:v>
                </c:pt>
                <c:pt idx="13">
                  <c:v>0.6299244165420532</c:v>
                </c:pt>
                <c:pt idx="14">
                  <c:v>0.5881010890007019</c:v>
                </c:pt>
                <c:pt idx="15">
                  <c:v>0.5719351172447205</c:v>
                </c:pt>
                <c:pt idx="16">
                  <c:v>0.5443807244300842</c:v>
                </c:pt>
                <c:pt idx="17">
                  <c:v>0.5228066444396973</c:v>
                </c:pt>
                <c:pt idx="18">
                  <c:v>0.43516209721565247</c:v>
                </c:pt>
                <c:pt idx="19">
                  <c:v>0.3822939991950989</c:v>
                </c:pt>
                <c:pt idx="20">
                  <c:v>0.37166255712509155</c:v>
                </c:pt>
                <c:pt idx="21">
                  <c:v>0.3529896140098572</c:v>
                </c:pt>
                <c:pt idx="22">
                  <c:v>0.33806848526000977</c:v>
                </c:pt>
                <c:pt idx="23">
                  <c:v>0.3273144066333771</c:v>
                </c:pt>
                <c:pt idx="24">
                  <c:v>0.2608179748058319</c:v>
                </c:pt>
                <c:pt idx="25">
                  <c:v>0.25569066405296326</c:v>
                </c:pt>
                <c:pt idx="26">
                  <c:v>0.2520037591457367</c:v>
                </c:pt>
                <c:pt idx="27">
                  <c:v>0.23849715292453766</c:v>
                </c:pt>
                <c:pt idx="28">
                  <c:v>0.2235100418329239</c:v>
                </c:pt>
                <c:pt idx="29">
                  <c:v>0.24980929493904114</c:v>
                </c:pt>
                <c:pt idx="30">
                  <c:v>0.238963320851326</c:v>
                </c:pt>
                <c:pt idx="31">
                  <c:v>0.17434653639793396</c:v>
                </c:pt>
                <c:pt idx="32">
                  <c:v>0.13188137114048004</c:v>
                </c:pt>
                <c:pt idx="33">
                  <c:v>0.08672020584344864</c:v>
                </c:pt>
                <c:pt idx="34">
                  <c:v>0.13693852722644806</c:v>
                </c:pt>
                <c:pt idx="35">
                  <c:v>0.13460789620876312</c:v>
                </c:pt>
                <c:pt idx="36">
                  <c:v>0.09367048740386963</c:v>
                </c:pt>
                <c:pt idx="37">
                  <c:v>0.15801532566547394</c:v>
                </c:pt>
                <c:pt idx="38">
                  <c:v>0.09824597090482712</c:v>
                </c:pt>
                <c:pt idx="39">
                  <c:v>0.17892950773239136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валидационная</c:v>
                </c:pt>
              </c:strCache>
            </c:strRef>
          </c:tx>
          <c:spPr>
            <a:solidFill>
              <a:srgbClr val="4C9BFF"/>
            </a:solidFill>
            <a:ln w="28575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>10</c:v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20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30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40</c:v>
                  </c:pt>
                </c:lvl>
              </c:multiLvlStrCache>
            </c:multiLvl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1.1639755964279175</c:v>
                </c:pt>
                <c:pt idx="1">
                  <c:v>0.8994801044464111</c:v>
                </c:pt>
                <c:pt idx="2">
                  <c:v>0.9626814126968384</c:v>
                </c:pt>
                <c:pt idx="3">
                  <c:v>0.9903655052185059</c:v>
                </c:pt>
                <c:pt idx="4">
                  <c:v>0.8771002292633057</c:v>
                </c:pt>
                <c:pt idx="5">
                  <c:v>0.8690695762634277</c:v>
                </c:pt>
                <c:pt idx="6">
                  <c:v>0.8841270804405212</c:v>
                </c:pt>
                <c:pt idx="7">
                  <c:v>0.8320277333259583</c:v>
                </c:pt>
                <c:pt idx="8">
                  <c:v>0.7700709104537964</c:v>
                </c:pt>
                <c:pt idx="9">
                  <c:v>0.9370087385177612</c:v>
                </c:pt>
                <c:pt idx="10">
                  <c:v>0.8150238990783691</c:v>
                </c:pt>
                <c:pt idx="11">
                  <c:v>0.8754007816314697</c:v>
                </c:pt>
                <c:pt idx="12">
                  <c:v>0.8236987590789795</c:v>
                </c:pt>
                <c:pt idx="13">
                  <c:v>0.851925253868103</c:v>
                </c:pt>
                <c:pt idx="14">
                  <c:v>0.8482797145843506</c:v>
                </c:pt>
                <c:pt idx="15">
                  <c:v>0.876783549785614</c:v>
                </c:pt>
                <c:pt idx="16">
                  <c:v>0.9245903491973877</c:v>
                </c:pt>
                <c:pt idx="17">
                  <c:v>0.9796202778816223</c:v>
                </c:pt>
                <c:pt idx="18">
                  <c:v>0.8873274326324463</c:v>
                </c:pt>
                <c:pt idx="19">
                  <c:v>0.9651750326156616</c:v>
                </c:pt>
                <c:pt idx="20">
                  <c:v>1.0353034734725952</c:v>
                </c:pt>
                <c:pt idx="21">
                  <c:v>0.9964916706085205</c:v>
                </c:pt>
                <c:pt idx="22">
                  <c:v>1.0201590061187744</c:v>
                </c:pt>
                <c:pt idx="23">
                  <c:v>1.1176350116729736</c:v>
                </c:pt>
                <c:pt idx="24">
                  <c:v>1.1678305864334106</c:v>
                </c:pt>
                <c:pt idx="25">
                  <c:v>1.081573724746704</c:v>
                </c:pt>
                <c:pt idx="26">
                  <c:v>1.162027359008789</c:v>
                </c:pt>
                <c:pt idx="27">
                  <c:v>1.2415214776992798</c:v>
                </c:pt>
                <c:pt idx="28">
                  <c:v>1.285955786705017</c:v>
                </c:pt>
                <c:pt idx="29">
                  <c:v>1.4455496072769165</c:v>
                </c:pt>
                <c:pt idx="30">
                  <c:v>1.1953259706497192</c:v>
                </c:pt>
                <c:pt idx="31">
                  <c:v>1.1792811155319214</c:v>
                </c:pt>
                <c:pt idx="32">
                  <c:v>1.2503454685211182</c:v>
                </c:pt>
                <c:pt idx="33">
                  <c:v>1.3313863277435303</c:v>
                </c:pt>
                <c:pt idx="34">
                  <c:v>1.4141263961791992</c:v>
                </c:pt>
                <c:pt idx="35">
                  <c:v>1.3035846948623657</c:v>
                </c:pt>
                <c:pt idx="36">
                  <c:v>1.3510258197784424</c:v>
                </c:pt>
                <c:pt idx="37">
                  <c:v>1.4163450002670288</c:v>
                </c:pt>
                <c:pt idx="38">
                  <c:v>1.4439172744750977</c:v>
                </c:pt>
                <c:pt idx="39">
                  <c:v>1.6088225841522217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эпоха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потеря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обычная цель</c:v>
                </c:pt>
              </c:strCache>
            </c:strRef>
          </c:tx>
          <c:spPr>
            <a:solidFill>
              <a:srgbClr val="9AA0A8"/>
            </a:solidFill>
            <a:effectLst/>
          </c:spPr>
          <c:invertIfNegative val="0"/>
          <c:dLbls>
            <c:numFmt formatCode="[=0]&quot;&quot;;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класс 0 (верный)</c:v>
                  </c:pt>
                  <c:pt idx="1">
                    <c:v>класс 1</c:v>
                  </c:pt>
                  <c:pt idx="2">
                    <c:v>класс 2</c:v>
                  </c:pt>
                  <c:pt idx="3">
                    <c:v>класс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сглаженная, ε = 0.1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[=0]&quot;&quot;;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класс 0 (верный)</c:v>
                  </c:pt>
                  <c:pt idx="1">
                    <c:v>класс 1</c:v>
                  </c:pt>
                  <c:pt idx="2">
                    <c:v>класс 2</c:v>
                  </c:pt>
                  <c:pt idx="3">
                    <c:v>класс 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0.925</c:v>
                </c:pt>
                <c:pt idx="1">
                  <c:v>0.025</c:v>
                </c:pt>
                <c:pt idx="2">
                  <c:v>0.025</c:v>
                </c:pt>
                <c:pt idx="3">
                  <c:v>0.025</c:v>
                </c:pt>
              </c:numCache>
            </c:numRef>
          </c:val>
        </c:ser>
        <c:dLbls>
          <c:numFmt formatCode="[=0]&quot;&quot;;0.000" sourceLinked="0"/>
          <c:txPr>
            <a:bodyPr/>
            <a:lstStyle/>
            <a:p>
              <a:pPr>
                <a:defRPr b="0" i="0" strike="noStrike" sz="8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K = 4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целевая вероятность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B2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тест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без регуляризации</c:v>
                  </c:pt>
                  <c:pt idx="1">
                    <c:v>сглаживание 0.1</c:v>
                  </c:pt>
                  <c:pt idx="2">
                    <c:v>снижение весов 10</c:v>
                  </c:pt>
                  <c:pt idx="3">
                    <c:v>штраф L1</c:v>
                  </c:pt>
                  <c:pt idx="4">
                    <c:v>прореживание 0.7</c:v>
                  </c:pt>
                  <c:pt idx="5">
                    <c:v>ранняя остановка</c:v>
                  </c:pt>
                  <c:pt idx="6">
                    <c:v>все вместе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0.7055</c:v>
                </c:pt>
                <c:pt idx="1">
                  <c:v>0.7085</c:v>
                </c:pt>
                <c:pt idx="2">
                  <c:v>0.7365</c:v>
                </c:pt>
                <c:pt idx="3">
                  <c:v>0.7575</c:v>
                </c:pt>
                <c:pt idx="4">
                  <c:v>0.7915</c:v>
                </c:pt>
                <c:pt idx="5">
                  <c:v>0.78</c:v>
                </c:pt>
                <c:pt idx="6">
                  <c:v>0.7765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CDD2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6"/>
        </c:scaling>
        <c:delete val="0"/>
        <c:axPos val="b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Calibri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Calibri"/>
                  </a:rPr>
                  <a:t>точность на тестовой выборке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Продолжаем второй блок. Мы уже умеем выбирать оптимизатор (Б2.1) и держать сигнал в рабочем диапазоне (Б2.2), то есть умеем добиться, чтобы сеть хорошо училась. Сегодня другая проблема: сеть, которая отлично учится, может плохо работать на новых данных. Справа настоящие кривые из нашего опыта: белая линия – потеря на обучающей выборке, она падает почти до нуля; голубая – потеря на валидационной выборке, после седьмой эпохи она начинает расти. К концу занятия каждый должен уметь объяснить, что такое разрыв между обучением и проверкой, посчитать шаг со снижением весов, объяснить разницу между Adam со штрафом и AdamW, написать свой слой прореживания и раннюю остановку.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Прочитайте вопрос и дайте минуту на версии. Обычно звучит: «мало эпох», «маленькая скорость обучения», «плохая архитектура». Подскажите: ошибка обучения почти нулевая, значит, оптимизация справилась. Картинка слева – 100 обучающих картинок, голубые клетки – картинки, у которых в разметке ошибка (в нашем опыте это каждая пятая). Спросите: «Что сделает сеть с 670 тысячами параметров, если ей дать 1000 картинок, часть из которых подписана неверно?» (ожидаемый ответ: запомнит все, включая ошибки). Скажите, что сегодня научимся мешать сети зубрить: штрафовать за большие веса, случайно выключать нейроны, вовремя останавливаться и не требовать от нее стопроцентной уверенности.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Сначала договоримся о словах: емкость модели, недообучение, переобучение, разрыв. Эти понятия знакомы по 9 классу (Тема 1, выборки), но для глубоких сетей они выглядят особенно ярко: параметров в сети обычно больше, чем обучающих примеров. Справа классическая картинка: голубая кривая проходит через все точки, но зависимость поняла серая.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Гудфеллоу (раздел 5.2) формулирует две цели: сделать маленькой ошибку на обучающей выборке и сделать маленьким разрыв между ошибкой на обучающей выборке и ошибкой на новых данных. Если не достигнута первая цель, это недообучение: модель слишком простая и ошибается везде. Если не достигнута вторая, это переобучение: модель запомнила примеры, а не закономерность. Регуляризация работает на вторую цель. Подчеркните тонкость определения: регуляризация должна уменьшать ошибку на новых данных, а не ошибку обучения; ошибка обучения от нее обычно растет, и это нормально. Новые данные изображает валидационная выборка, а тестовая выборка используется один раз в самом конце. Спросите: «Что будет, если подбирать регуляризацию по тестовой выборке?» (тестовая перестанет быть честной оценкой, она станет частью обучения).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Опишите опыт: 1000 картинок FashionMNIST, сеть с двумя скрытыми слоями по 512 нейронов, Adam, 60 эпох. Серая линия – потеря на обучающей выборке, голубая – на валидационной. Валидационная потеря минимальна около 7 эпохи, дальше растет и к концу превышает 1, хотя точность на валидации держится около 0.81. Объясните, почему так: перекрестная энтропия −ln p наказывает за уверенность в неверном ответе. Переобученная сеть дает вероятности, близкие к 0 и 1; на верно распознанной картинке она почти ничего не выигрывает, а уверенная ошибка с p = 0.001 стоит 6.9, тогда как равномерный ответ по 10 классам стоит ln 10 = 2.3. Точность на обучающей выборке 1.00, на валидационной 0.81, разрыв 0.18. Спросите: «Где бы вы остановили обучение, если бы смотрели на этот график?» (около минимума голубой кривой; к этому вернемся в разделе 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вариант опыта: у каждой пятой картинки метка заменена на неверную, всего 200 ошибок из 1000, а валидационная и тестовая выборки чистые. Так бывает при ручной разметке: люди устают, путают похожие классы (рубашка и футболка, пуловер и пальто). Без регуляризации сеть отвечает испорченной меткой на 98 % испорченных картинок, то есть выучила ошибки наизусть, и точность на чистой валидации падает с 0.81 до 0.71. Разберите нижнюю плашку: точность 0.99 по испорченным меткам – плохой знак. Сеть, которая всегда отвечает правильно, ошибется по мнению разметки ровно на 200 картинках и получит 0.80. В практике мы будем мерить две доли на испорченных картинках: сколько ответов совпало с испорченной меткой (запомнено ошибок) и сколько с настоящей (сеть не поверила разметке). Задание Р1.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Прочитайте определение: регуляризация – любое изменение алгоритма обучения, которое должно уменьшить ошибку обобщения, а не ошибку обучения (Гудфеллоу, раздел 5.2.2 и введение к главе 7). Справа карта способов. Сегодня четыре: штраф на веса, прореживание, ранняя остановка, сглаживание меток. На следующих занятиях добавятся аугментация данных (Б2.4) и перенос знаний из предобученной сети (Б2.5). Главная мысль главы 7 на нижней плашке: на практике лучшая модель почти всегда большая сеть с подходящей регуляризацией, а не маленькая сеть, подобранная «точно по размеру». Спросите: «Почему бы просто не взять маленькую сеть?» (маленькая может не вместить нужную зависимость, а угадать правильный размер заранее нельзя; проще взять с запасом и регуляризовать).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Самый старый способ регуляризации, им пользовались задолго до глубокого обучения, например в гребневой регрессии. Разберем штраф L2, его разреженного родственника L1 и одну ловушку, в которую попадает Adam.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Выведите на доске. К функции потерь прибавляем штраф λ/2·‖w‖², то есть половину суммы квадратов весов, умноженную на λ. Градиент штрафа равен λw, значит, шаг градиентного спуска w ← w − η(∇J + λw). Перегруппируем: w ← (1 − ηλ)·w − η·∇J. Перед обычным шагом каждый вес умножается на число чуть меньше единицы, отсюда название «снижение весов» (weight decay). Вес, который не помогает уменьшать потерю, не получает поддержки от градиента и тает с каждым шагом. Отдельно скажите про смещения: их обычно не штрафуют. Вес связывает две переменные, а смещение относится к одной, поэтому для его подбора нужно меньше данных, и штраф на смещения почти не помогает, а может вызвать недообучение (раздел 7.1). Параметры нормализации из Б2.2 тоже не штрафуют. Обратите внимание на обозначения: у Гудфеллоу коэффициент штрафа называется α, а скорость обучения ε; у нас λ и η, как в PyTorch и в Б2.1.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Данные: w = (2, −1), градиент потери (0.4, 0.2), η = 0.1, λ = 0.5. Шаг 1: множитель 1 − 0.1·0.5 = 0.95, после умножения вес (1.9, −0.95). Шаг 2: обычный шаг против градиента 0.1·(0.4, 0.2) = (0.04, 0.02). Итог: (1.9 − 0.04, −0.95 − 0.02) = (1.86, −0.97). Без штрафа получилось бы (1.96, −1.02). Значение штрафа в начальной точке λ/2·‖w‖² = 0.25·(4 + 1) = 1.25. Дополнительный вопрос классу: каким будет вес через 100 шагов, если градиент потери все время нулевой? (0.95¹⁰⁰ ≈ 0.006 от начального, то есть почти ноль). Проверка – задание Р2: функция decay_step_ должна совпасть с torch.optim.SGD(..., weight_decay=0.5).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для сильных групп, его можно пройти быстро. Рядом с минимумом w* функции потерь без штрафа ее можно приблизить квадратичной функцией с матрицей вторых производных H. Гудфеллоу показывает (формула 7.13), что минимум со штрафом получается из w* сжатием вдоль собственных векторов H: составляющая вдоль направления с собственным значением h умножается на h/(h + λ). На диаграмме λ = 0.1: в самом крутом направлении (h = 10) остается 0.99, в самом пологом (h = 0.01) остается 0.09. Смысл: если потеря быстро растет при изменении веса в каком-то направлении, данные «настаивают» на определенном значении, и штраф его почти не трогает. Если потеря почти не меняется, данные ничего не говорят, и штраф прижимает вес к нулю. Именно в таких пологих направлениях сеть и хранит случайные особенности обучающей выборки, то есть зубрежку. Аналогия: штраф – это налог на каждый вес; оставит его только тот вес, который приносит пользы больше, чем налог.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Штраф L1 – сумма модулей весов, умноженная на λ. Его градиент λ·sign(w): каждый вес толкают к нулю с одной и той же силой, каким бы маленьким он ни был. У L2 толчок λw слабеет вместе с весом, поэтому вес становится маленьким, но не нулевым; у L1 ненужные веса доходят до нуля. Для квадратичной модели с диагональной H решение записывается явно (формула 7.23): вес обнуляется, если |w*ᵢ| ≤ λ/Hᵢᵢ, иначе уменьшается по модулю на λ/Hᵢᵢ. Пример на плашке: (2, 0.3, −0.8) при λ/H = 0.5 превращается в (1.5, 0, −0.3), а L2 с тем же λ дал бы (1.333, 0.2, −0.533). Покажите картинки: средний модуль веса первого слоя для каждого пикселя после обучения на испорченных метках. Без штрафа самые крупные веса у краевых пикселей: они редко бывают ненулевыми, Adam делает по ним почти полные шаги, и через них удобно запоминать отдельные картинки. Со снижением весов все веса в несколько раз меньше. Со штрафом L1 99 % весов первого слоя меньше 0.001, а заметные остались в центре, где находится одежда; точность на валидации при этом выросла с 0.71 до 0.75. Это отбор признаков, на нем основана модель LASSO.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Для SGD прибавить λw к градиенту и умножить вес на (1 − ηλ) – одно и то же. Для Adam нет. Напомните из Б2.1: на первом шаге у Adam m̂ = g, v̂ = g², поэтому шаг равен ±η для любого ненулевого градиента. Данные: w = (1, 1), градиент потери g = (1, 0), η = 0.1, λ = 0.1. Слева Adam со штрафом в градиенте (так работает torch.optim.Adam с параметром weight_decay): в Adam идет g + λw = (1.1, 0.1), оба числа положительные, шаг (0.1, 0.1), новый вес (0.9, 0.9). Первый вес изменился так же, как без штрафа, а второй, у которого градиент потери нулевой, уменьшился на 0.1, в 10 раз сильнее задуманного снижения ηλw = 0.01. Справа AdamW: шаг Adam считается только по g и равен (0.1, 0), а снижение ηλw = (0.01, 0.01) вычитается отдельно; итог (0.89, 0.99), оба веса сжались на 1 %. Вывод: в Adam штраф делится на √v̂ вместе с градиентом, и сила снижения зависит от истории градиентов каждого веса. Лощилов и Хуттер (2019) отделили снижение от градиента, это AdamW, сейчас стандарт для обучения с Adam, в том числе трансформеров в Теме 2. Проверка – задание Р3; там же видно, что у Adam со штрафом вес без градиента за 20 шагов уходит одинаково при λ = 0.01 и λ = 0.1, то есть коэффициент перестает управлять силой штрафа.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Прореживание (dropout) предложили Хинтон, Сривастава и соавторы в 2012–2014 годах. Метод очень простой и при этом один из самых сильных способов регуляризации полносвязных сетей.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сеть и зачеркните несколько скрытых нейронов. Во время обучения на каждом шаге каждый нейрон слоя независимо выключается с вероятностью p: его выход заменяется нулем. Выходы оставшихся нейронов умножаются на 1/(1 − p), чтобы среднее значение выхода не изменилось. На следующем шаге маска новая. При применении сети прореживание выключено (model.eval()), слой пропускает значения без изменений. Обратите внимание на договоренность: в nn.Dropout(p) число p – вероятность выключить нейрон, а у Гудфеллоу говорится о вероятности включения, она равна 1 − p. Спросите: «Почему нейрону вредно рассчитывать на соседей?» (если признак работает только в сочетании с определенными соседями, это сложная подстройка под обучающую выборку; когда соседи могут пропасть, каждый нейрон учится быть полезным сам по себе).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Данные: h = (2, 4, 6, 8), p = 0.25, выпала маска (1, 0, 1, 1). Шаг 1: множитель 1/(1 − 0.25) = 4/3 ≈ 1.333. Шаг 2: (2, 0, 6, 8)·4/3. Итог: (2.667, 0, 8, 10.667). Сумма выхода 21.33 вместо 20: на одном шаге она случайна. Но среднее по всем маскам: каждый нейрон остается с вероятностью 0.75 и тогда умножается на 4/3, то есть в среднем дает 0.75·h·4/3 = h. Спросите: «Каким будет градиент выхода по входу?» (4/3 для оставленных нейронов и 0 для выключенных; через выключенный нейрон градиент не проходит, поэтому на этом шаге его входные веса не обучаются). Проверка – задание Р4.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Сравните два способа получить ансамбль. Баггинг (раздел 7.11): обучаем 5–10 отдельных сетей, каждую на своей выборке с возвращением, и усредняем ответы; это работает, потому что разные сети делают разные ошибки, но стоит в 5–10 раз больше вычислений. Прореживание (раздел 7.12): каждая маска задает подсеть, все подсети пользуются общими весами. В нашей сети 512 + 512 = 1024 нейрона, которые можно выключать, значит, подсетей 2¹⁰²⁴ ≈ 10³⁰⁸. Каждый шаг обучает одну из них (точнее, по одной на каждую картинку пакета), но так как веса общие, шаг для одной подсети обучает и остальные. При применении одна полная сеть с множителем 1/(1 − p) приближенно заменяет усреднение всех подсетей; у Гудфеллоу это правило вывода с масштабированием весов. Теоретически это приближение не доказано для нелинейных сетей, но на практике работает хорошо.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опыта на испорченных метках с вашим будущим слоем MyDropout. Голубые столбики – точность на валидации, темные – доля запомненных ошибок. Без прореживания 0.71 и 98 %; p = 0.2 почти ничего не меняет; p = 0.5 дает 0.76 и 57 %; p = 0.7 дает 0.78 и 19 %. Чем сильнее прореживание, тем труднее сети запомнить отдельные картинки. Обычные значения: 0.5 для скрытых слоев и 0.2 для входа; при сильном шуме в данных можно больше. Справа место в коде: после функции активации полносвязного слоя. В сверточных сетях прореживание ставят реже, обычно перед полносвязной частью, а сверточные слои регуляризует пакетная нормализация (Б2.2). Напомните про режимы: как и пакетная нормализация, прореживание ведет себя по-разному в train и eval, и забытый model.eval() делает ответы на одну и ту же картинку случайными.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Два способа, которые почти ничего не стоят: ранняя остановка экономит время, а сглаживание меток меняет всего одну строку в функции потерь.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графике обучение на испорченных метках без регуляризации, первые 40 эпох. Валидационная потеря минимальна в эпохе 9, а дальше растет: сеть начинает запоминать испорченные метки. Ранняя остановка (алгоритм 7.1): после каждой эпохи считаем валидационную потерю и запоминаем копию весов с лучшим значением; если терпение исчерпано, то есть 5 эпох подряд лучше не стало, останавливаемся и возвращаем лучшие веса. В нашем опыте остановка после 14 эпохи, веса эпохи 9, точность на тесте 0.78 против 0.71 после всех 60 эпох, запомнено около 15 % ошибок. Это почти как лучшие штрафы, но за 14 эпох вместо 60. Гудфеллоу называет раннюю остановку самой распространенной формой регуляризации. Подчеркните техническую деталь: сохранять нужно копию весов (copy.deepcopy(model.state_dict())), иначе в словаре окажутся ссылки на тензоры, которые продолжат меняться.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Пройдите по ряду потерь слева направо и ведите счетчик эпох без улучшения. Лучшее значение 0.60 в эпохе 4. Эпохи 5 (0.61) и 6 (0.63) хуже: при терпении 2 счетчик дошел до 2, стоп после эпохи 6, возвращаем веса эпохи 4. Улучшение 0.59 в эпохе 7 мы так и не увидели. При терпении 3 в эпохе 7 счетчик обнуляется, лучшая теперь эпоха 7, дальше эпохи 8, 9, 10 хуже, стоп после эпохи 10 с весами эпохи 7. Вывод: маленькое терпение рискует остановиться на случайном подъеме кривой, большое стоит лишнего времени. Нижняя плашка: Гудфеллоу показывает (раздел 7.8), что для квадратичной функции потерь τ шагов со скоростью η действуют как штраф L2 с λ ≈ 1/(ητ). Пример: η = 0.1 и 100 шагов соответствуют λ ≈ 0.1. В нашем опыте с η = 0.001 лучшая эпоха 9, то есть около 180 шагов, что соответствует λ порядка 5, того же порядка, что удачные значения в задании Р2. И важное замечание: эпоху выбрали по валидационной выборке, поэтому честную оценку дает только тестовая. Задание Р5.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целевые вероятности равны ровно 0 и 1, перекрестная энтропия минимальна только при вероятности правильного класса ровно 1, то есть при бесконечном разрыве логитов: сеть будет без конца увеличивать веса и делать все более уверенные предсказания (раздел 7.5.1). Сглаживание меток заменяет цель: правильный класс получает (1 − ε) + ε/K, остальные по ε/K. На диаграмме K = 4, ε = 0.1: 0.925 и по 0.025. Разберите три карточки. Оптимальный разрыв логитов теперь конечный: ln(0.925/0.025) = ln 37 ≈ 3.61. Потеря для логитов (2, 0, 0, 0) и правильного класса 0 растет с 0.341 до 0.491: слишком уверенный ответ тоже штрафуется. В нашем опыте средняя уверенность сети на валидации упала с 0.90 до 0.64. Честно скажите, чего сглаживание не делает: само по себе оно не мешает выучить испорченные метки (запомнено около 100 % ошибок), ведь цель 0.925 для испорченной метки все равно стоит на неверном классе. Его сила – в уверенности и в сочетании с другими способами. В PyTorch это параметр label_smoothing функции F.cross_entropy; у Гудфеллоу описан вариант с метками 1 − ε и ε/(K − 1). Задание Р6.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Сводка опыта на испорченных метках, точность на тестовой выборке из 2000 чистых картинок. Без регуляризации 0.706; сглаживание меток 0.709; снижение весов (λ = 10) 0.737; штраф L1 0.758; прореживание с p = 0.7 0.792; ранняя остановка 0.780; все вместе (прореживание 0.5, снижение весов 5, сглаживание 0.1 и ранняя остановка с терпением 10) 0.777 при 7 % запомненных ошибок вместо 98 %. Обратите внимание, что «все вместе» не лучше лучшего отдельного способа: способы частично делают одну и ту же работу, и их силы надо подбирать заново в сочетании. Справа внизу правильные метки: точность на тесте почти не меняется (0.81), но разрыв уменьшается с 0.18 до 0.10, а валидационная потеря с 1.01 до 0.63, то есть вероятностям сети можно больше доверять. Спросите: «Как поднять точность выше 0.81?» (больше данных или их аугментация – Б2.4, сверточная сеть – Б1.4, предобученная сеть – Б2.5).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05. Практическая работа №2, часть 3Р. Ученики сами получат все числа со слайдов: напишут оценку качества и долю запомненных ошибок, штрафы, два шага Adam, свой слой прореживания, раннюю остановку и сглаженную функцию потерь, а в конце соберут сводную таблицу.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Покажите, как все сегодняшнее выглядит в обычном коде PyTorch. Первая строка – группы параметров, как в Б2.1: снижение весов только для весов (тензоры с dim &gt; 1), смещения без него. Затем nn.Dropout(0.5) в модели, параметр label_smoothing в функции потерь и сохранение лучших весов через copy.deepcopy. Скажите про масштаб: у AdamW weight_decay умножается на скорость обучения, поэтому при η = 0.001 значение по умолчанию 0.01 почти ничего не делает, а заметно действуют значения порядка 1–10. В задании Р2 ученики увидят это сами: λ = 1 почти не помогает, λ = 10 помогает сильно.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плану. Р1: функции evaluate и memorized_share, кривые обучения на правильных и испорченных метках. Р2: штрафы L2 и L1 и шаг со снижением весов, сверка с SGD, перебор λ и карты весов первого слоя. Р3: два шага Adam, сверка с torch.optim.Adam и AdamW. Р4 (главное задание): свой слой MyDropout, сверка с nn.Dropout и обучение сети с тремя значениями p. Р5: класс EarlyStopping с проверкой на ряде со слайда. Р6: сглаженная функция потерь, сверка с F.cross_entropy, обучение «все вместе» и сводная таблица. Правило части: в Р2, Р3 и Р6 только тензоры, готовые weight_decay и label_smoothing нужны для сверки; в Р4 свой nn.Module. Одно обучение сети занимает 10–20 секунд, всего около 15 обучений.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Подведите итог по шести пунктам. Разрыв между обучением и проверкой показывает зубрежку, а точность выше 0.8 по испорченным меткам означает выученные ошибки. Регуляризация уменьшает ошибку на новых данных, а не на обучающих. Снижение весов умножает вес на (1 − ηλ) перед шагом; для Adam используют AdamW. Штраф L1 обнуляет ненужные веса. Прореживание выключает нейроны с вероятностью p и умножает остальные на 1/(1 − p), а при применении выключено. Ранняя остановка возвращает веса лучшей эпохи, сглаживание меток заменяет цель 1 на 0.925. Справа карта весов первого слоя после штрафа L1: из 784 пикселей сеть оставила заметные веса в основном там, где находится одежда. Анонсируйте следующее занятие: аугментация данных, то есть как получить больше разных картинок из тех же 1000.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3/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10 КЛАСС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Регуляризация: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научить сеть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зубрить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3/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1078992"/>
            <a:ext cx="566928" cy="502920"/>
          </a:xfrm>
          <a:prstGeom prst="hexagon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754880" y="107899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7373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«На обучающих картинках сеть почти не ошибается, а на новых ошибается почти на каждой третьей. Что пошло не так, если ошибка обучения почти нулевая?»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3383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картинок FashionMNIST, сеть из 670 тысяч параметров, у каждой пятой картинки неверная метка. Голубые клетки слева – картинки с ошибкой разметки.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3/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Переобучение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Емкость модели, разрыв между выборками и что называют регуляризацией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ЕМКОСТЬ МОДЕЛИ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Две цели обучения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Недообучение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ошибка обучения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слишком простая: ошибается и на обучающей, и на новых данных.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6517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Переобучение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разрыв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обучения маленькая, на новых данных большая: модель запомнила примеры.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143000"/>
            <a:ext cx="2651760" cy="25146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Регуляризация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уменьшить разрыв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изменение обучения, которое уменьшает ошибку на новых данных, а не на обучающих.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= ошибка на валидационной выборке − ошибка на обучающей. Тестовая выборка – один раз, в самом конце (Гудфеллоу, 5.2).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НА 1000 КАРТИНКАХ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идет вниз, проверка – вверх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15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BigMLP 784 </a:t>
            </a:r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512 </a:t>
            </a:r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512 </a:t>
            </a:r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10, Adam, пакеты по 50, метки правильные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60720" y="1143000"/>
            <a:ext cx="292608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1252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обучающей выборке: выучена наизусть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221992"/>
            <a:ext cx="2926080" cy="94183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770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валидационной: разрыв 0.18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3300984"/>
            <a:ext cx="2926080" cy="941832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34107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эпоха 7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3849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потери на валидации, дальше сеть только набирает уверенность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РАЗМЕТКИ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Сеть запоминает и неверные метки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18872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118872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9304" y="1188720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6192" y="118872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118872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188720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76856" y="118872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23744" y="118872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0632" y="1188720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43560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" y="143560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" y="1435608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9304" y="143560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36192" y="1435608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1435608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29968" y="143560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76856" y="143560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3744" y="1435608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70632" y="143560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168249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" y="1682496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" y="1682496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89304" y="168249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36192" y="1682496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83080" y="168249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29968" y="168249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76856" y="1682496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23744" y="168249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70632" y="168249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1929384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5528" y="1929384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2416" y="1929384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89304" y="1929384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36192" y="1929384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1929384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9968" y="1929384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76856" y="1929384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23744" y="1929384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70632" y="1929384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176272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5528" y="2176272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2416" y="2176272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89304" y="2176272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36192" y="2176272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83080" y="2176272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29968" y="2176272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76856" y="2176272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23744" y="2176272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70632" y="2176272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" y="242316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5528" y="2423160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42416" y="2423160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289304" y="242316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36192" y="2423160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83080" y="242316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29968" y="2423160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6856" y="2423160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23744" y="242316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70632" y="2423160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8640" y="2670048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" y="267004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2416" y="267004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289304" y="2670048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36192" y="267004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783080" y="267004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29968" y="2670048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6856" y="2670048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23744" y="2670048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70632" y="2670048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48640" y="2916936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5528" y="291693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2416" y="2916936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289304" y="291693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536192" y="2916936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83080" y="2916936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029968" y="291693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276856" y="291693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23744" y="2916936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70632" y="2916936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" y="3163824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5528" y="3163824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42416" y="3163824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289304" y="3163824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536192" y="3163824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83080" y="3163824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029968" y="3163824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276856" y="3163824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523744" y="3163824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70632" y="3163824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48640" y="3410712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5528" y="3410712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42416" y="3410712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289304" y="3410712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536192" y="3410712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83080" y="3410712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29968" y="3410712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276856" y="3410712"/>
            <a:ext cx="201168" cy="201168"/>
          </a:xfrm>
          <a:prstGeom prst="rect">
            <a:avLst/>
          </a:prstGeom>
          <a:solidFill>
            <a:srgbClr val="D5DA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23744" y="3410712"/>
            <a:ext cx="201168" cy="201168"/>
          </a:xfrm>
          <a:prstGeom prst="rect">
            <a:avLst/>
          </a:prstGeom>
          <a:solidFill>
            <a:srgbClr val="4C9B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770632" y="3410712"/>
            <a:ext cx="201168" cy="201168"/>
          </a:xfrm>
          <a:prstGeom prst="rect">
            <a:avLst/>
          </a:prstGeom>
          <a:solidFill>
            <a:srgbClr val="C3CA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548640" y="3730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картинок, голубые – с неверной меткой</a:t>
            </a:r>
            <a:endParaRPr lang="en-US" sz="900" dirty="0"/>
          </a:p>
        </p:txBody>
      </p:sp>
      <p:sp>
        <p:nvSpPr>
          <p:cNvPr id="107" name="Text 105"/>
          <p:cNvSpPr txBox="1"/>
          <p:nvPr/>
        </p:nvSpPr>
        <p:spPr>
          <a:xfrm>
            <a:off x="347472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8" name="Text 106"/>
          <p:cNvSpPr txBox="1"/>
          <p:nvPr/>
        </p:nvSpPr>
        <p:spPr>
          <a:xfrm>
            <a:off x="3977640" y="1207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испорченных меток из 1000</a:t>
            </a:r>
            <a:endParaRPr lang="en-US" sz="1100" dirty="0"/>
          </a:p>
        </p:txBody>
      </p:sp>
      <p:sp>
        <p:nvSpPr>
          <p:cNvPr id="109" name="Text 107"/>
          <p:cNvSpPr txBox="1"/>
          <p:nvPr/>
        </p:nvSpPr>
        <p:spPr>
          <a:xfrm>
            <a:off x="3977640" y="14996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пятая картинка получила неверный класс, валидация и тест чистые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347472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1" name="Text 109"/>
          <p:cNvSpPr txBox="1"/>
          <p:nvPr/>
        </p:nvSpPr>
        <p:spPr>
          <a:xfrm>
            <a:off x="3977640" y="1984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Запомнено 98 % ошибок</a:t>
            </a:r>
            <a:endParaRPr lang="en-US" sz="1100" dirty="0"/>
          </a:p>
        </p:txBody>
      </p:sp>
      <p:sp>
        <p:nvSpPr>
          <p:cNvPr id="112" name="Text 110"/>
          <p:cNvSpPr txBox="1"/>
          <p:nvPr/>
        </p:nvSpPr>
        <p:spPr>
          <a:xfrm>
            <a:off x="3977640" y="227685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испорченных картинках сеть отвечает именно испорченной меткой</a:t>
            </a:r>
            <a:endParaRPr lang="en-US" sz="900" dirty="0"/>
          </a:p>
        </p:txBody>
      </p:sp>
      <p:sp>
        <p:nvSpPr>
          <p:cNvPr id="113" name="Text 111"/>
          <p:cNvSpPr txBox="1"/>
          <p:nvPr/>
        </p:nvSpPr>
        <p:spPr>
          <a:xfrm>
            <a:off x="347472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4" name="Text 112"/>
          <p:cNvSpPr txBox="1"/>
          <p:nvPr/>
        </p:nvSpPr>
        <p:spPr>
          <a:xfrm>
            <a:off x="3977640" y="2761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Валидация 0.81 </a:t>
            </a:r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0.71</a:t>
            </a:r>
            <a:endParaRPr lang="en-US" sz="1100" dirty="0"/>
          </a:p>
        </p:txBody>
      </p:sp>
      <p:sp>
        <p:nvSpPr>
          <p:cNvPr id="115" name="Text 113"/>
          <p:cNvSpPr txBox="1"/>
          <p:nvPr/>
        </p:nvSpPr>
        <p:spPr>
          <a:xfrm>
            <a:off x="3977640" y="305409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выученные ошибки портят ответы на похожих новых картинках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58368" y="4151376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658368" y="41513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19" name="Text 117"/>
          <p:cNvSpPr txBox="1"/>
          <p:nvPr/>
        </p:nvSpPr>
        <p:spPr>
          <a:xfrm>
            <a:off x="1280160" y="40690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0.99 по испорченным меткам – плохой знак. 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Сеть, которая всегда отвечает правильно, получила бы 0.80.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Большая сеть плюс регуляризация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22860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Регуляризация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3736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изменение алгоритма обучения, которое должно уменьшить ошибку обобщения, а не ошибку обучения. Ошибка на обучающей выборке при этом обычно растет.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Гудфеллоу, раздел 5.2.2 и глава 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1887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161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на веса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1435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L2, L1, AdamW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766560" y="118872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1887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1161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Прореживание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435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nn.Dropout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19659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Ранняя остановка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2212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эпоха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19659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19659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Сглаживание меток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2212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label_smoothing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502920" cy="438912"/>
          </a:xfrm>
          <a:prstGeom prst="hexagon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Б2.4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349240" y="2715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Аугментация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2990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66560" y="2743200"/>
            <a:ext cx="502920" cy="438912"/>
          </a:xfrm>
          <a:prstGeom prst="hexagon">
            <a:avLst/>
          </a:prstGeom>
          <a:solidFill>
            <a:srgbClr val="EAF2FF"/>
          </a:solidFill>
          <a:ln w="6350">
            <a:solidFill>
              <a:srgbClr val="EAF2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Б2.5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2715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знаний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360920" y="2990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предобученная сеть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8229600" cy="658368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3877056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38770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374904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модель на практике – 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сеть с подходящей регуляризацией, а не маленькая сеть «точно по размеру задачи».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3/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Штраф на веса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весов, штраф L1 и почему для Adam нужен AdamW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L2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Снижение весов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J̃ = J + λ/2 · ‖w‖</a:t>
            </a:r>
            <a:pPr algn="r" indent="0" marL="0">
              <a:buNone/>
            </a:pPr>
            <a:r>
              <a:rPr lang="en-US" sz="1400" b="1" baseline="3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– сила штрафа (у Гудфеллоу α)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206240" cy="30632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984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ШАГ СПУСКА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916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∇J̃ = ∇J + λ·w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 − η·(∇J + λ·w)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</a:t>
            </a:r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(1 − ηλ)·w − η·∇J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обычным шагом вес умножается на число чуть меньше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207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Штраф за размер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4996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веса стоят дороже, даже если помогают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1984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Множитель 1 − ηλ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2768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отсюда название «снижение весов» (weight decay)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2761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Ненужные веса </a:t>
            </a:r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05409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поддержки градиента вес тает с каждым шагом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520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538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Смещения не штрафуют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8313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смещению нужно меньше данных, штраф вредит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шаг со снижением весов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87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(2, −1), ∇J = (0.4, 0.2), η = 0.1, λ = 0.5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06040" cy="2331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544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МНОЖИТЕЛЬ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874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ηλ = 1 − 0.1·0.5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0.95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0.95·w = (1.9, −0.95)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сжимается на 5 %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06040" cy="2331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7288" y="15544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ГРАДИЕНТ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1874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η·∇J = 0.1·(0.4, 0.2)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(0.04, 0.02)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штрафа: (1.96, −1.02)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обычный шаг против градиента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2331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6208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НОВЫЙ ВЕС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(1.86, −0.97)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236208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в начальной точке λ/2·‖w‖² = 0.25·5 = 1.25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– задание Р2: decay_step_ совпадает с torch.optim.SGD(..., weight_decay=0.5).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ШТРАФ ДЕЛАЕТ С РЕШЕНИЕМ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сжимает штраф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множитель = h</a:t>
            </a:r>
            <a:pPr algn="r" indent="0" marL="0">
              <a:buNone/>
            </a:pPr>
            <a:r>
              <a:rPr lang="en-US" sz="1400" b="1" baseline="-4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(h</a:t>
            </a:r>
            <a:pPr algn="r" indent="0" marL="0">
              <a:buNone/>
            </a:pPr>
            <a:r>
              <a:rPr lang="en-US" sz="1400" b="1" baseline="-4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λ)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– собственные значения матрицы вторых производных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97280"/>
          <a:ext cx="50292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4315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0.1; Гудфеллоу, формула 7.13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207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Крутые направления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4996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требуют точного значения – штраф почти не мешает (×0.99)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Пологие направления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236829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почти ничего не говорят – вес сжимается к нулю (×0.09)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944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Там и прячется зубрежка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32369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особенности выборки живут в пологих направлениях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L1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обнуляет веса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J̃ = J + λ · Σ|w</a:t>
            </a:r>
            <a:pPr algn="r" indent="0" marL="0">
              <a:buNone/>
            </a:pPr>
            <a:r>
              <a:rPr lang="en-US" sz="1400" b="1" baseline="-40000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градиент штрафа λ·sign(w)</a:t>
            </a:r>
            <a:endParaRPr lang="en-US" sz="800" dirty="0"/>
          </a:p>
        </p:txBody>
      </p:sp>
      <p:pic>
        <p:nvPicPr>
          <p:cNvPr id="8" name="Image 0" descr="/home/claude/work/b23/img/weight_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86400" cy="20726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3310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модуль веса первого слоя для каждого пикселя; у каждой карты своя шкала. Метки с ошибками, 60 эпох.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217920" y="1143000"/>
            <a:ext cx="24688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261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L2: толчок λ·w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15727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слабеет вместе с весом: вес маленький, но не ноль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2377440"/>
            <a:ext cx="2468880" cy="12344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L1: толчок λ·sign(w)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8072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одинаковый для любого веса: ненужные веса доходят до нуля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8229600" cy="658368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922776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39227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79476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Разреженность: 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w*ᵢ ≤ λ/Hᵢᵢ вес становится ровно нулем (формула 7.23). Например, (2, 0.3, −0.8) 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(1.5, 0, −0.3) при λ/H = 0.5.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со штрафом и AdamW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87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(1, 1), градиент потери g = (1, 0), η = 0.1, λ = 0.1, первый шаг: шаг Adam = ±η для любого ненулевого градиента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77640" cy="2331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544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· ШТРАФ В ГРАДИЕНТЕ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8745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+ λw = (1.1, 0.1)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= (0.1, 0.1)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(0.9, 0.9)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вес без градиента потери уменьшился на 0.1 – в 10 раз сильнее задуманного ηλw = 0.01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977640" cy="2331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0328" y="155448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СНИЖЕНИЕ ОТДЕЛЬНО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187452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Adam по g = (0.1, 0)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ηλw = (0.01, 0.01)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(0.89, 0.99)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910328" y="3200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веса сжались на одинаковую долю – 1 %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делит штраф на √v̂ вместе с градиентом. AdamW (Лощилов и Хуттер, 2019): w </a:t>
            </a:r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− η(m̂/(√v̂ + ε) + λw). Проверка – задание Р3.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3/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Прореживание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Случайное выключение нейронов и ансамбль из огромного числа подсетей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ПРОРЕЖИВАНИЕ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шаг – случайная подсеть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h̃ = μ·h / (1 − p)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 с вероятностью p, иначе 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319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51560" y="1664208"/>
            <a:ext cx="1005840" cy="237744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901952"/>
            <a:ext cx="1005840" cy="713232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51560" y="1664208"/>
            <a:ext cx="1005840" cy="713232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377440"/>
            <a:ext cx="1005840" cy="237744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1560" y="1664208"/>
            <a:ext cx="1005840" cy="1188720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51560" y="2615184"/>
            <a:ext cx="1005840" cy="237744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1664208"/>
            <a:ext cx="1005840" cy="475488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1664208"/>
            <a:ext cx="1005840" cy="1426464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057400" y="2139696"/>
            <a:ext cx="1005840" cy="475488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7400" y="2615184"/>
            <a:ext cx="1005840" cy="475488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63240" y="2139696"/>
            <a:ext cx="1005840" cy="914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2139696"/>
            <a:ext cx="1005840" cy="475488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063240" y="2139696"/>
            <a:ext cx="1005840" cy="950976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063240" y="2615184"/>
            <a:ext cx="1005840" cy="475488"/>
          </a:xfrm>
          <a:prstGeom prst="line">
            <a:avLst/>
          </a:prstGeom>
          <a:noFill/>
          <a:ln w="12700">
            <a:solidFill>
              <a:srgbClr val="B7BC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1764792"/>
            <a:ext cx="274320" cy="2743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2240280"/>
            <a:ext cx="274320" cy="2743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2715768"/>
            <a:ext cx="274320" cy="2743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20240" y="1527048"/>
            <a:ext cx="274320" cy="274320"/>
          </a:xfrm>
          <a:prstGeom prst="ellipse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0240" y="200253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BCC3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920240" y="2478024"/>
            <a:ext cx="274320" cy="274320"/>
          </a:xfrm>
          <a:prstGeom prst="ellipse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295351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BCC3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926080" y="152704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BCC3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926080" y="2002536"/>
            <a:ext cx="274320" cy="274320"/>
          </a:xfrm>
          <a:prstGeom prst="ellipse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0" y="247802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BCC3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2926080" y="2953512"/>
            <a:ext cx="274320" cy="274320"/>
          </a:xfrm>
          <a:prstGeom prst="ellipse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1920" y="2002536"/>
            <a:ext cx="274320" cy="2743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0" y="2478024"/>
            <a:ext cx="274320" cy="2743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3474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0.5: на этом шаге выключены 4 из 8 скрытых нейронов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25780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Маска на каждом шаге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257800" y="14996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нейрон выключается независимо, с вероятностью p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257800" y="1984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Множитель 1/(1 − p)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257800" y="22768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значение выхода остается прежним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75488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5257800" y="27614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 применении выключено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257800" y="30540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model.eval(): слой пропускает значения без изменений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nn.Dropout(p) число p – вероятность выключить нейрон; у Гудфеллоу говорится о вероятности включения 1 − p.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Маска и множитель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87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(2, 4, 6, 8), p = 0.25, выпала маска μ = (1, 0, 1, 1)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06040" cy="2331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544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МНОЖИТЕЛЬ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874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(1 − 0.25) = 4/3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1.333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выжившие нейроны работают «за двоих»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06040" cy="2331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7288" y="155448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МАСКА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187452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 0, 6, 8) · 4/3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21.33 вместо 20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3200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одном шаге сумма случайна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2331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6208" y="1554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ВЫХОД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1874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(2.667, 0, 8, 10.667)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36208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среднем по маскам: 0.75 · h · 4/3 = 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– задание Р4: dropout_with_mask и свой слой MyDropout; градиент по входу равен 0 или 4/3.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РАБОТАЕТ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Ансамбль из 2¹⁰²⁴ подсетей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22860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Баггинг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7452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отдельных сетей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на своей выборке с возвращением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усредняются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5–10 раз больше вычислений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931920" cy="22860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6048" y="129844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56048" y="12984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559552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Прореживание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187452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2¹⁰²⁴ ≈ 10³⁰⁸ подсетей с общими весами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обучает одну из них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для одной обучает и остальные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полная сеть вместо усреднения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 не может рассчитывать на определенных соседей – совместная подстройка, которой сеть зубрит выборку, ломается. Полная сеть с множителем 1/(1 − p) – правило вывода с масштабированием весов (Гудфеллоу, 7.12).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ОПЫТ: МЕТКИ С ОШИБКАМИ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нейронов выключать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143000"/>
            <a:ext cx="2926080" cy="21031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2984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СТАВИТЬ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600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nn.Linear(784, 512),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nn.ReLU(),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nn.Dropout(0.5),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nn.Linear(512, 512), ...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функции активации; обычно 0.5 для скрытых слоев и 0.2 для входа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3383280"/>
            <a:ext cx="2926080" cy="8686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3474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сверточных сетях – реже: там регуляризует пакетная нормализация (Б2.2).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3/img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Ранняя остановка и сглаживание меток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эпоха вместо последней и цели без нулей и единиц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РАННЯЯ ОСТАНОВКА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Вернуть веса лучшей эпохи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15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 с ошибками, без регуляризации; первые 40 эпох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60720" y="1143000"/>
            <a:ext cx="292608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1252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эпоха 9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потеря на валидации: ее веса и вернутся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221992"/>
            <a:ext cx="2926080" cy="94183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стоп после 14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27706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терпение 5: пять эпох подряд без улучшения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3300984"/>
            <a:ext cx="2926080" cy="941832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341071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3849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тесте против 0.71 после 60 эпох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Терпение 2 или 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731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16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1143000"/>
            <a:ext cx="731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1216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2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03120" y="1143000"/>
            <a:ext cx="731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3120" y="1216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3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26080" y="1143000"/>
            <a:ext cx="731520" cy="8686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1216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4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49040" y="1143000"/>
            <a:ext cx="731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49040" y="1216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5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0" y="1143000"/>
            <a:ext cx="731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1216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6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94960" y="1143000"/>
            <a:ext cx="731520" cy="8686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94960" y="1216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7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1143000"/>
            <a:ext cx="731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1216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8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040880" y="1143000"/>
            <a:ext cx="731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40880" y="1216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9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863840" y="1143000"/>
            <a:ext cx="731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0" y="1216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эпоха 10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0.70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2084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на валидации после каждой эпохи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468880"/>
            <a:ext cx="39776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2624328"/>
            <a:ext cx="457200" cy="402336"/>
          </a:xfrm>
          <a:prstGeom prst="hexagon">
            <a:avLst/>
          </a:prstGeom>
          <a:solidFill>
            <a:srgbClr val="0F1B2D"/>
          </a:solidFill>
          <a:ln w="6350">
            <a:solidFill>
              <a:srgbClr val="0F1B2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26243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261872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Терпение 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3063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эпохи 5 и 6 без улучшения </a:t>
            </a:r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стоп после 6, веса эпохи 4 (0.60). Улучшение 0.59 так и не увидели.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2468880"/>
            <a:ext cx="3977640" cy="13258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10328" y="2624328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10328" y="26243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513832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Терпение 3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937760" y="30632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дождались 0.59 в эпохе 7 </a:t>
            </a:r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стоп после 10, веса эпохи 7. Дольше, но точнее.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" y="4073652"/>
            <a:ext cx="457200" cy="402336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58368" y="40736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280160" y="39776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Остановка как штраф: </a:t>
            </a:r>
            <a:pPr indent="0" marL="0">
              <a:buNone/>
            </a:pPr>
            <a:r>
              <a:rPr lang="en-US" sz="10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шагов со скоростью η действуют как L2 с λ ≈ 1/(ητ) (Гудфеллоу, 7.8). Валидация выбирает эпоху – честная оценка только на тесте.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СГЛАЖИВАНИЕ МЕТОК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без нулей и единиц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429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(1 − ε)·[k = y] + ε/K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777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– число классов, ε – сила сглаживания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05156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257800" y="1143000"/>
            <a:ext cx="3429000" cy="941832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40680" y="12527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ln 37 ≈ 3.61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16916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оптимальный разрыв логитов вместо бесконечности: веса не растут без конца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257800" y="2221992"/>
            <a:ext cx="3429000" cy="941832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40680" y="23317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0.341 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0.491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440680" y="27706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для логитов (2, 0, 0, 0): уверенность тоже штрафуется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257800" y="3300984"/>
            <a:ext cx="3429000" cy="941832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40680" y="34107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 </a:t>
            </a:r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0.64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440680" y="384962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уверенность сети на валидации без сглаживания и с ним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F.cross_entropy(z, y, label_smoothing=0.1); у Гудфеллоу (7.5.1) вариант 1 − ε и ε/(K − 1)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ОЦЕНКА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 каждый способ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159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картинок, 200 меток испорчены; тест – 2000 чистых картинок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60720" y="1143000"/>
            <a:ext cx="29260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12801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 С ОШИБКАМИ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554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 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0.79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регуляризация не дает выучить ошибки разметки: запомнено 7 % вместо 98 %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880360"/>
            <a:ext cx="2926080" cy="13716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0" y="30175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ЧИСТЫЕ МЕТКИ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0.81 </a:t>
            </a:r>
            <a:pPr indent="0" marL="0">
              <a:buNone/>
            </a:pPr>
            <a:r>
              <a:rPr lang="en-US" sz="14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1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0.81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3611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 0.18 </a:t>
            </a:r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0.10, потеря на валидации 1.01 </a:t>
            </a:r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9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0.63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23/img/se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учим сеть не зубрить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№2, часть 3Р: от переобучения до сводной таблицы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ВЫГЛЯДИТ В КОДЕ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строки регуляризации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480560" cy="30632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984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С РЕГУЛЯРИЗАЦИЕЙ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45920"/>
            <a:ext cx="4160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decay = [p for p in params if p.dim() &gt; 1]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= torch.optim.AdamW([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{'params': decay, 'weight_decay': 5},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{'params': rest, 'weight_decay': 0}])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nn.Dropout(0.5)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F.cross_entropy(z, y, label_smoothing=0.1)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 copy.deepcopy(model.state_dict())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model.load_state_dict(best)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188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2070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Группы параметров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14996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со снижением, смещения без него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model.train() и eval()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27685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прореживание работает только при обучении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deepcopy обязателен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0540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state_dict() хранит ссылки на живые тензоры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AdamW weight_decay умножается на скорость обучения: при η = 0.001 заметно действуют значения 1–10.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заданий – от разрыва до таблицы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801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Переобучение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562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 · memorized_share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0.99, валидация 0.71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2801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Штрафы L2 и L1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8562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l2_penalty · l1_penalty · decay_step_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(1.86, −0.97), карты весов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114300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28016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12801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13258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и AdamW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18562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adam_l2_step · adamw_step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(0.9, 0.9) и (0.89, 0.99)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2651760" cy="13258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74320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слой прореживания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319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MyDropout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задание: (2.667, 0, 8, 10.667)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2606040"/>
            <a:ext cx="2651760" cy="13258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274320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8328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Р5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02336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Ранняя остановка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3319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EarlyStopping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338328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терпение 2 и 3: эпохи 4 и 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0" y="2606040"/>
            <a:ext cx="26517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2743200"/>
            <a:ext cx="502920" cy="438912"/>
          </a:xfrm>
          <a:prstGeom prst="hexagon">
            <a:avLst/>
          </a:prstGeom>
          <a:solidFill>
            <a:srgbClr val="4C9BFF"/>
          </a:solidFill>
          <a:ln w="6350">
            <a:solidFill>
              <a:srgbClr val="4C9B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72200" y="27432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81228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Сглаживание и таблица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3319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smoothed_cross_entropy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17220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0.341 </a:t>
            </a:r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0.491, сводка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Р2, Р3, Р6: только тензоры, готовые weight_decay и label_smoothing – для сверки. Р4: свой nn.Module. Обучение одной сети – 10–20 с.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2 · Регуляризация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161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Разрыв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4721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0.99, валидация 0.71: сеть зубрит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161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Регуляризация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4721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уменьшает ошибку на новых данных, а не на обучающих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Снижение весов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(1 − ηλ)·w; для Adam – AdamW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λ·sign(w): ненужные веса до нуля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Прореживание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392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маска, 1/(1 − p), выключено в eval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081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Остановка и сглаживание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392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эпоха; цель 0.925 вместо 1</a:t>
            </a:r>
            <a:endParaRPr lang="en-US" sz="900" dirty="0"/>
          </a:p>
        </p:txBody>
      </p:sp>
      <p:pic>
        <p:nvPicPr>
          <p:cNvPr id="24" name="Image 0" descr="/home/claude/work/b23/img/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 – аугментация данных: как получить больше картинок из тех же 1000.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Регуляризация</dc:title>
  <dc:subject>PptxGenJS Presentation</dc:subject>
  <dc:creator>Инженерная школа «УникУм», КузГТУ</dc:creator>
  <cp:lastModifiedBy>Инженерная школа «УникУм», КузГТУ</cp:lastModifiedBy>
  <cp:revision>1</cp:revision>
  <dcterms:created xsi:type="dcterms:W3CDTF">2026-10-08T05:26:01Z</dcterms:created>
  <dcterms:modified xsi:type="dcterms:W3CDTF">2026-10-08T05:26:01Z</dcterms:modified>
</cp:coreProperties>
</file>